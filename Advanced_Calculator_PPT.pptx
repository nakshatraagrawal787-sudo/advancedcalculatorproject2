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5667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7395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SCIENTIFIC CALCULATOR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9601200" y="647395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PRESENTATION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976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976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494207" y="1001268"/>
            <a:ext cx="6720840" cy="4526280"/>
          </a:xfrm>
          <a:prstGeom prst="roundRect">
            <a:avLst>
              <a:gd name="adj" fmla="val 2424"/>
            </a:avLst>
          </a:prstGeom>
          <a:solidFill>
            <a:srgbClr val="17212C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143000" y="1600200"/>
            <a:ext cx="5669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2800" b="1">
                <a:solidFill>
                  <a:srgbClr val="F5F8FC"/>
                </a:solidFill>
                <a:latin typeface="Aptos Display"/>
              </a:rPr>
              <a:t>ADVANCED</a:t>
            </a:r>
          </a:p>
          <a:p>
            <a:r>
              <a:rPr sz="2800" b="1">
                <a:solidFill>
                  <a:srgbClr val="F5F8FC"/>
                </a:solidFill>
                <a:latin typeface="Aptos Display"/>
              </a:rPr>
              <a:t>CALCULATOR</a:t>
            </a:r>
          </a:p>
        </p:txBody>
      </p:sp>
      <p:sp>
        <p:nvSpPr>
          <p:cNvPr id="5" name="Text 3"/>
          <p:cNvSpPr/>
          <p:nvPr/>
        </p:nvSpPr>
        <p:spPr>
          <a:xfrm>
            <a:off x="1143000" y="370332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A6B0BF"/>
                </a:solidFill>
              </a:rPr>
              <a:t>A</a:t>
            </a:r>
            <a:r>
              <a:rPr lang="en-US" sz="1500" dirty="0">
                <a:solidFill>
                  <a:srgbClr val="A6B0BF"/>
                </a:solidFill>
              </a:rPr>
              <a:t> </a:t>
            </a:r>
            <a:r>
              <a:rPr lang="en-US" sz="2000" dirty="0">
                <a:solidFill>
                  <a:srgbClr val="A6B0BF"/>
                </a:solidFill>
              </a:rPr>
              <a:t>professional desktop calculator built with Python and Tkinter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43000" y="440740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43000" y="50109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818120" y="1097280"/>
            <a:ext cx="3611880" cy="4572000"/>
          </a:xfrm>
          <a:prstGeom prst="roundRect">
            <a:avLst>
              <a:gd name="adj" fmla="val 2025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38160" y="1417320"/>
            <a:ext cx="2971800" cy="914400"/>
          </a:xfrm>
          <a:prstGeom prst="roundRect">
            <a:avLst>
              <a:gd name="adj" fmla="val 6000"/>
            </a:avLst>
          </a:prstGeom>
          <a:solidFill>
            <a:srgbClr val="08101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39328" y="161848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6B0BF"/>
                </a:solidFill>
              </a:rPr>
              <a:t>sin(30) + √25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339328" y="19202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8FAFC"/>
                </a:solidFill>
              </a:rPr>
              <a:t>5.5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119872" y="2606040"/>
            <a:ext cx="585216" cy="402336"/>
          </a:xfrm>
          <a:prstGeom prst="roundRect">
            <a:avLst>
              <a:gd name="adj" fmla="val 9091"/>
            </a:avLst>
          </a:prstGeom>
          <a:solidFill>
            <a:srgbClr val="22384D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0" y="2715768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8FAFC"/>
                </a:solidFill>
              </a:rPr>
              <a:t>sin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833104" y="2606040"/>
            <a:ext cx="585216" cy="402336"/>
          </a:xfrm>
          <a:prstGeom prst="roundRect">
            <a:avLst>
              <a:gd name="adj" fmla="val 9091"/>
            </a:avLst>
          </a:prstGeom>
          <a:solidFill>
            <a:srgbClr val="22384D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1392" y="2715768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8FAFC"/>
                </a:solidFill>
              </a:rPr>
              <a:t>cos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9546336" y="2606040"/>
            <a:ext cx="585216" cy="402336"/>
          </a:xfrm>
          <a:prstGeom prst="roundRect">
            <a:avLst>
              <a:gd name="adj" fmla="val 9091"/>
            </a:avLst>
          </a:prstGeom>
          <a:solidFill>
            <a:srgbClr val="22384D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64624" y="2715768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8FAFC"/>
                </a:solidFill>
              </a:rPr>
              <a:t>tan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0259568" y="2606040"/>
            <a:ext cx="585216" cy="402336"/>
          </a:xfrm>
          <a:prstGeom prst="roundRect">
            <a:avLst>
              <a:gd name="adj" fmla="val 9091"/>
            </a:avLst>
          </a:prstGeom>
          <a:solidFill>
            <a:srgbClr val="22384D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77856" y="2715768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8FAFC"/>
                </a:solidFill>
              </a:rPr>
              <a:t>√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119872" y="3154680"/>
            <a:ext cx="585216" cy="402336"/>
          </a:xfrm>
          <a:prstGeom prst="roundRect">
            <a:avLst>
              <a:gd name="adj" fmla="val 9091"/>
            </a:avLst>
          </a:prstGeom>
          <a:solidFill>
            <a:srgbClr val="22384D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0" y="3264408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8FAFC"/>
                </a:solidFill>
              </a:rPr>
              <a:t>π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833104" y="3154680"/>
            <a:ext cx="585216" cy="402336"/>
          </a:xfrm>
          <a:prstGeom prst="roundRect">
            <a:avLst>
              <a:gd name="adj" fmla="val 9091"/>
            </a:avLst>
          </a:prstGeom>
          <a:solidFill>
            <a:srgbClr val="22384D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51392" y="3264408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8FAFC"/>
                </a:solidFill>
              </a:rPr>
              <a:t>x²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9546336" y="3154680"/>
            <a:ext cx="585216" cy="402336"/>
          </a:xfrm>
          <a:prstGeom prst="roundRect">
            <a:avLst>
              <a:gd name="adj" fmla="val 9091"/>
            </a:avLst>
          </a:prstGeom>
          <a:solidFill>
            <a:srgbClr val="22384D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64624" y="3264408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8FAFC"/>
                </a:solidFill>
              </a:rPr>
              <a:t>7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0259568" y="3154680"/>
            <a:ext cx="585216" cy="402336"/>
          </a:xfrm>
          <a:prstGeom prst="roundRect">
            <a:avLst>
              <a:gd name="adj" fmla="val 9091"/>
            </a:avLst>
          </a:prstGeom>
          <a:solidFill>
            <a:srgbClr val="22384D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77856" y="3264408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8FAFC"/>
                </a:solidFill>
              </a:rPr>
              <a:t>8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8119872" y="3703320"/>
            <a:ext cx="585216" cy="402336"/>
          </a:xfrm>
          <a:prstGeom prst="roundRect">
            <a:avLst>
              <a:gd name="adj" fmla="val 9091"/>
            </a:avLst>
          </a:prstGeom>
          <a:solidFill>
            <a:srgbClr val="22384D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38160" y="3813048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8FAFC"/>
                </a:solidFill>
              </a:rPr>
              <a:t>9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8833104" y="3703320"/>
            <a:ext cx="585216" cy="402336"/>
          </a:xfrm>
          <a:prstGeom prst="roundRect">
            <a:avLst>
              <a:gd name="adj" fmla="val 9091"/>
            </a:avLst>
          </a:prstGeom>
          <a:solidFill>
            <a:srgbClr val="31465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51392" y="3813048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8FAFC"/>
                </a:solidFill>
              </a:rPr>
              <a:t>÷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9546336" y="3703320"/>
            <a:ext cx="585216" cy="402336"/>
          </a:xfrm>
          <a:prstGeom prst="roundRect">
            <a:avLst>
              <a:gd name="adj" fmla="val 9091"/>
            </a:avLst>
          </a:prstGeom>
          <a:solidFill>
            <a:srgbClr val="22384D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564624" y="3813048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8FAFC"/>
                </a:solidFill>
              </a:rPr>
              <a:t>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0259568" y="3703320"/>
            <a:ext cx="585216" cy="402336"/>
          </a:xfrm>
          <a:prstGeom prst="roundRect">
            <a:avLst>
              <a:gd name="adj" fmla="val 9091"/>
            </a:avLst>
          </a:prstGeom>
          <a:solidFill>
            <a:srgbClr val="22384D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277856" y="3813048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8FAFC"/>
                </a:solidFill>
              </a:rPr>
              <a:t>5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8119872" y="4251960"/>
            <a:ext cx="585216" cy="402336"/>
          </a:xfrm>
          <a:prstGeom prst="roundRect">
            <a:avLst>
              <a:gd name="adj" fmla="val 9091"/>
            </a:avLst>
          </a:prstGeom>
          <a:solidFill>
            <a:srgbClr val="22384D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38160" y="4361688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8FAFC"/>
                </a:solidFill>
              </a:rPr>
              <a:t>6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833104" y="4251960"/>
            <a:ext cx="585216" cy="402336"/>
          </a:xfrm>
          <a:prstGeom prst="roundRect">
            <a:avLst>
              <a:gd name="adj" fmla="val 9091"/>
            </a:avLst>
          </a:prstGeom>
          <a:solidFill>
            <a:srgbClr val="31465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851392" y="4361688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8FAFC"/>
                </a:solidFill>
              </a:rPr>
              <a:t>×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9546336" y="4251960"/>
            <a:ext cx="585216" cy="402336"/>
          </a:xfrm>
          <a:prstGeom prst="roundRect">
            <a:avLst>
              <a:gd name="adj" fmla="val 9091"/>
            </a:avLst>
          </a:prstGeom>
          <a:solidFill>
            <a:srgbClr val="22384D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564624" y="4361688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8FAFC"/>
                </a:solidFill>
              </a:rPr>
              <a:t>1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0259568" y="4251960"/>
            <a:ext cx="585216" cy="402336"/>
          </a:xfrm>
          <a:prstGeom prst="roundRect">
            <a:avLst>
              <a:gd name="adj" fmla="val 9091"/>
            </a:avLst>
          </a:prstGeom>
          <a:solidFill>
            <a:srgbClr val="22384D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277856" y="4361688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8FAFC"/>
                </a:solidFill>
              </a:rPr>
              <a:t>2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8119872" y="4800600"/>
            <a:ext cx="585216" cy="402336"/>
          </a:xfrm>
          <a:prstGeom prst="roundRect">
            <a:avLst>
              <a:gd name="adj" fmla="val 9091"/>
            </a:avLst>
          </a:prstGeom>
          <a:solidFill>
            <a:srgbClr val="22384D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138160" y="4910328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8FAFC"/>
                </a:solidFill>
              </a:rPr>
              <a:t>3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8833104" y="4800600"/>
            <a:ext cx="585216" cy="402336"/>
          </a:xfrm>
          <a:prstGeom prst="roundRect">
            <a:avLst>
              <a:gd name="adj" fmla="val 9091"/>
            </a:avLst>
          </a:prstGeom>
          <a:solidFill>
            <a:srgbClr val="31465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851392" y="4910328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8FAFC"/>
                </a:solidFill>
              </a:rPr>
              <a:t>−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9546336" y="4800600"/>
            <a:ext cx="585216" cy="402336"/>
          </a:xfrm>
          <a:prstGeom prst="roundRect">
            <a:avLst>
              <a:gd name="adj" fmla="val 9091"/>
            </a:avLst>
          </a:prstGeom>
          <a:solidFill>
            <a:srgbClr val="22384D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564624" y="4910328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8FAFC"/>
                </a:solidFill>
              </a:rPr>
              <a:t>0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10259568" y="4800600"/>
            <a:ext cx="585216" cy="402336"/>
          </a:xfrm>
          <a:prstGeom prst="roundRect">
            <a:avLst>
              <a:gd name="adj" fmla="val 9091"/>
            </a:avLst>
          </a:prstGeom>
          <a:solidFill>
            <a:srgbClr val="22384D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277856" y="4910328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8FAFC"/>
                </a:solidFill>
              </a:rPr>
              <a:t>.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8229600" y="583387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6B0BF"/>
                </a:solidFill>
              </a:rPr>
              <a:t>Python + Tkinter</a:t>
            </a:r>
            <a:endParaRPr lang="en-US" sz="950" dirty="0"/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976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  <p:sp>
        <p:nvSpPr>
          <p:cNvPr id="53" name="TextBox 52"/>
          <p:cNvSpPr txBox="1"/>
          <p:nvPr/>
        </p:nvSpPr>
        <p:spPr>
          <a:xfrm>
            <a:off x="1005840" y="4288536"/>
            <a:ext cx="395383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dirty="0">
                <a:solidFill>
                  <a:srgbClr val="DCE2EB"/>
                </a:solidFill>
                <a:latin typeface="Aptos"/>
              </a:rPr>
              <a:t>Prepared by - Nakshatra Agrawal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5840" y="4833358"/>
            <a:ext cx="452482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dirty="0">
                <a:solidFill>
                  <a:srgbClr val="60A5FA"/>
                </a:solidFill>
                <a:latin typeface="Aptos"/>
              </a:rPr>
              <a:t>Submitted to - </a:t>
            </a:r>
            <a:r>
              <a:rPr sz="2000" b="1" dirty="0" err="1">
                <a:solidFill>
                  <a:srgbClr val="60A5FA"/>
                </a:solidFill>
                <a:latin typeface="Aptos"/>
              </a:rPr>
              <a:t>NextHikes</a:t>
            </a:r>
            <a:r>
              <a:rPr sz="2000" b="1" dirty="0">
                <a:solidFill>
                  <a:srgbClr val="60A5FA"/>
                </a:solidFill>
                <a:latin typeface="Aptos"/>
              </a:rPr>
              <a:t> IT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8FAFC"/>
                </a:solidFill>
              </a:rPr>
              <a:t>1. Introduction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6B0BF"/>
                </a:solidFill>
              </a:rPr>
              <a:t>Project purpose and design goal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6583680" cy="4480560"/>
          </a:xfrm>
          <a:prstGeom prst="roundRect">
            <a:avLst>
              <a:gd name="adj" fmla="val 1633"/>
            </a:avLst>
          </a:prstGeom>
          <a:solidFill>
            <a:srgbClr val="17212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5727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0A5FA"/>
                </a:solidFill>
              </a:rPr>
              <a:t>What is the project?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41248" y="1984248"/>
            <a:ext cx="5806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The project is a desktop-based advanced scientific calculator developed in Python using the Tkinter GUI framework. It combines everyday arithmetic with scientific mathematics in one clean interface.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98080" y="15727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0A5FA"/>
                </a:solidFill>
              </a:rPr>
              <a:t>Design objective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452360" y="2057400"/>
            <a:ext cx="1828800" cy="1325880"/>
          </a:xfrm>
          <a:prstGeom prst="roundRect">
            <a:avLst>
              <a:gd name="adj" fmla="val 5517"/>
            </a:avLst>
          </a:prstGeom>
          <a:solidFill>
            <a:srgbClr val="1E2A3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16952" y="2221992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2563EB"/>
                </a:solidFill>
              </a:rPr>
              <a:t>1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7616952" y="2697480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A6B0BF"/>
                </a:solidFill>
              </a:rPr>
              <a:t>Unified calculator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9464040" y="2057400"/>
            <a:ext cx="1828800" cy="1325880"/>
          </a:xfrm>
          <a:prstGeom prst="roundRect">
            <a:avLst>
              <a:gd name="adj" fmla="val 5517"/>
            </a:avLst>
          </a:prstGeom>
          <a:solidFill>
            <a:srgbClr val="1E2A3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28632" y="2221992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22C55E"/>
                </a:solidFill>
              </a:rPr>
              <a:t>2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9628632" y="2697480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A6B0BF"/>
                </a:solidFill>
              </a:rPr>
              <a:t>Equation modes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452360" y="3584448"/>
            <a:ext cx="1828800" cy="1325880"/>
          </a:xfrm>
          <a:prstGeom prst="roundRect">
            <a:avLst>
              <a:gd name="adj" fmla="val 5517"/>
            </a:avLst>
          </a:prstGeom>
          <a:solidFill>
            <a:srgbClr val="1E2A3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16952" y="3749040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59E0B"/>
                </a:solidFill>
              </a:rPr>
              <a:t>3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7616952" y="4224528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A6B0BF"/>
                </a:solidFill>
              </a:rPr>
              <a:t>Input validation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464040" y="3584448"/>
            <a:ext cx="1828800" cy="1325880"/>
          </a:xfrm>
          <a:prstGeom prst="roundRect">
            <a:avLst>
              <a:gd name="adj" fmla="val 5517"/>
            </a:avLst>
          </a:prstGeom>
          <a:solidFill>
            <a:srgbClr val="1E2A3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28632" y="3749040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60A5FA"/>
                </a:solidFill>
              </a:rPr>
              <a:t>4</a:t>
            </a:r>
            <a:endParaRPr lang="en-US" sz="2500" dirty="0"/>
          </a:p>
        </p:txBody>
      </p:sp>
      <p:sp>
        <p:nvSpPr>
          <p:cNvPr id="23" name="Text 21"/>
          <p:cNvSpPr/>
          <p:nvPr/>
        </p:nvSpPr>
        <p:spPr>
          <a:xfrm>
            <a:off x="9628632" y="4224528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A6B0BF"/>
                </a:solidFill>
              </a:rPr>
              <a:t>Persistent history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452360" y="5212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A6B0BF"/>
                </a:solidFill>
              </a:rPr>
              <a:t>Focus: usability + accuracy + clear feedback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976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8FAFC"/>
                </a:solidFill>
              </a:rPr>
              <a:t>2. Key Features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6B0BF"/>
                </a:solidFill>
              </a:rPr>
              <a:t>What makes the calculator advanced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3493008" cy="1828800"/>
          </a:xfrm>
          <a:prstGeom prst="roundRect">
            <a:avLst>
              <a:gd name="adj" fmla="val 4000"/>
            </a:avLst>
          </a:prstGeom>
          <a:solidFill>
            <a:srgbClr val="1E2A3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61848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76479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63040" y="16642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</a:rPr>
              <a:t>Scientific Functions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9808" y="231343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A6B0BF"/>
                </a:solidFill>
              </a:rPr>
              <a:t>sin, cos, tan, inverse trig, logarithms, roots, powers, factorial, nCr and nPr.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4370832" y="1417320"/>
            <a:ext cx="3493008" cy="1828800"/>
          </a:xfrm>
          <a:prstGeom prst="roundRect">
            <a:avLst>
              <a:gd name="adj" fmla="val 4000"/>
            </a:avLst>
          </a:prstGeom>
          <a:solidFill>
            <a:srgbClr val="1E2A3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53712" y="161848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3712" y="176479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66944" y="16642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</a:rPr>
              <a:t>Memory &amp; ANS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53712" y="231343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A6B0BF"/>
                </a:solidFill>
              </a:rPr>
              <a:t>MC, MR, M+, M−, MS and ANS make repeated calculations faster.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8174736" y="1417320"/>
            <a:ext cx="3493008" cy="1828800"/>
          </a:xfrm>
          <a:prstGeom prst="roundRect">
            <a:avLst>
              <a:gd name="adj" fmla="val 4000"/>
            </a:avLst>
          </a:prstGeom>
          <a:solidFill>
            <a:srgbClr val="1E2A3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57616" y="161848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57616" y="176479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070848" y="16642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</a:rPr>
              <a:t>History Panel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57616" y="231343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A6B0BF"/>
                </a:solidFill>
              </a:rPr>
              <a:t>Every successful calculation is timestamped and can be reused or cleared.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566928" y="3566160"/>
            <a:ext cx="3493008" cy="1828800"/>
          </a:xfrm>
          <a:prstGeom prst="roundRect">
            <a:avLst>
              <a:gd name="adj" fmla="val 4000"/>
            </a:avLst>
          </a:prstGeom>
          <a:solidFill>
            <a:srgbClr val="1E2A3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" y="376732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391363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63040" y="381304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</a:rPr>
              <a:t>Equation Solver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9808" y="446227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A6B0BF"/>
                </a:solidFill>
              </a:rPr>
              <a:t>Solves linear systems such as a+b=80, a+c=90 and b+c=100.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4370832" y="3566160"/>
            <a:ext cx="3493008" cy="1828800"/>
          </a:xfrm>
          <a:prstGeom prst="roundRect">
            <a:avLst>
              <a:gd name="adj" fmla="val 4000"/>
            </a:avLst>
          </a:prstGeom>
          <a:solidFill>
            <a:srgbClr val="1E2A3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53712" y="376732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53712" y="391363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66944" y="381304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</a:rPr>
              <a:t>Validation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53712" y="446227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A6B0BF"/>
                </a:solidFill>
              </a:rPr>
              <a:t>Rejects invalid text and provides clear mathematical error messages.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8174736" y="3566160"/>
            <a:ext cx="3493008" cy="1828800"/>
          </a:xfrm>
          <a:prstGeom prst="roundRect">
            <a:avLst>
              <a:gd name="adj" fmla="val 4000"/>
            </a:avLst>
          </a:prstGeom>
          <a:solidFill>
            <a:srgbClr val="1E2A3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57616" y="376732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57616" y="391363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070848" y="381304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</a:rPr>
              <a:t>Responsive Layout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357616" y="446227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A6B0BF"/>
                </a:solidFill>
              </a:rPr>
              <a:t>Equal button sizing, clean spacing and organized calculator sections.</a:t>
            </a:r>
            <a:endParaRPr lang="en-US" sz="112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976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8FAFC"/>
                </a:solidFill>
              </a:rPr>
              <a:t>3. Challenges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6B0BF"/>
                </a:solidFill>
              </a:rPr>
              <a:t>Main problems encountered during development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58368" y="1353312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17212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49961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627632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481328" y="147218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</a:rPr>
              <a:t>UI overcrowding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0" y="1472184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6B0BF"/>
                </a:solidFill>
              </a:rPr>
              <a:t>Too many scientific functions and keypad controls can make the interface difficult to read.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58368" y="2304288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17212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" y="245059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578608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2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481328" y="24231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</a:rPr>
              <a:t>Input mistakes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0" y="2423160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6B0BF"/>
                </a:solidFill>
              </a:rPr>
              <a:t>Users can enter ordinary text, incomplete expressions or invalid symbols.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58368" y="3255264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17212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" y="34015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3529584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3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481328" y="337413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</a:rPr>
              <a:t>Scientific edge cases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0" y="3374136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6B0BF"/>
                </a:solidFill>
              </a:rPr>
              <a:t>Division by zero, invalid logarithms, factorial limits and other math errors need controlled handling.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58368" y="4206240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17212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1248" y="435254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4480560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4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481328" y="43251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</a:rPr>
              <a:t>Equation parsing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657600" y="4325112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6B0BF"/>
                </a:solidFill>
              </a:rPr>
              <a:t>A system such as a+b=80 must be converted into a solvable mathematical representation.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58368" y="5157216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17212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1248" y="53035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5431536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5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481328" y="52760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</a:rPr>
              <a:t>History management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657600" y="5276088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6B0BF"/>
                </a:solidFill>
              </a:rPr>
              <a:t>Previous calculations must remain accessible without interfering with calculator memory.</a:t>
            </a:r>
            <a:endParaRPr lang="en-US" sz="11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976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8FAFC"/>
                </a:solidFill>
              </a:rPr>
              <a:t>4. Solutions Implemented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6B0BF"/>
                </a:solidFill>
              </a:rPr>
              <a:t>How the design and code address the challenges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3493008" cy="1965960"/>
          </a:xfrm>
          <a:prstGeom prst="roundRect">
            <a:avLst>
              <a:gd name="adj" fmla="val 3721"/>
            </a:avLst>
          </a:prstGeom>
          <a:solidFill>
            <a:srgbClr val="1E2A3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371600"/>
            <a:ext cx="3493008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64592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Structured Grid Layout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8096" y="21945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A6B0BF"/>
                </a:solidFill>
              </a:rPr>
              <a:t>Scientific controls and keypad use equal grid columns, equal row weights and consistent spacing.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4370832" y="1371600"/>
            <a:ext cx="3493008" cy="1965960"/>
          </a:xfrm>
          <a:prstGeom prst="roundRect">
            <a:avLst>
              <a:gd name="adj" fmla="val 3721"/>
            </a:avLst>
          </a:prstGeom>
          <a:solidFill>
            <a:srgbClr val="1E2A3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70832" y="1371600"/>
            <a:ext cx="3493008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64592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Strict Expression Validation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0" y="21945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A6B0BF"/>
                </a:solidFill>
              </a:rPr>
              <a:t>Expressions are checked before evaluation; unsupported text or symbols are rejected.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8174736" y="1371600"/>
            <a:ext cx="3493008" cy="1965960"/>
          </a:xfrm>
          <a:prstGeom prst="roundRect">
            <a:avLst>
              <a:gd name="adj" fmla="val 3721"/>
            </a:avLst>
          </a:prstGeom>
          <a:solidFill>
            <a:srgbClr val="1E2A3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74736" y="1371600"/>
            <a:ext cx="3493008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75904" y="164592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Safe Calculation Engine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75904" y="21945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A6B0BF"/>
                </a:solidFill>
              </a:rPr>
              <a:t>Only approved mathematical functions and operators are evaluated.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566928" y="3675888"/>
            <a:ext cx="10881360" cy="2029968"/>
          </a:xfrm>
          <a:prstGeom prst="roundRect">
            <a:avLst>
              <a:gd name="adj" fmla="val 3604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9502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0A5FA"/>
                </a:solidFill>
              </a:rPr>
              <a:t>Equation solver workflow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04672" y="4526280"/>
            <a:ext cx="429768" cy="429768"/>
          </a:xfrm>
          <a:prstGeom prst="roundRect">
            <a:avLst>
              <a:gd name="adj" fmla="val 1702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4645152"/>
            <a:ext cx="4297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13232" y="504748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F8FAFC"/>
                </a:solidFill>
              </a:rPr>
              <a:t>Read equations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2194560" y="45720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0A5FA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2889504" y="4526280"/>
            <a:ext cx="429768" cy="429768"/>
          </a:xfrm>
          <a:prstGeom prst="roundRect">
            <a:avLst>
              <a:gd name="adj" fmla="val 1702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89504" y="4645152"/>
            <a:ext cx="4297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798064" y="504748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F8FAFC"/>
                </a:solidFill>
              </a:rPr>
              <a:t>Detect variables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4279392" y="45720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0A5FA"/>
                </a:solidFill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4974336" y="4526280"/>
            <a:ext cx="429768" cy="429768"/>
          </a:xfrm>
          <a:prstGeom prst="roundRect">
            <a:avLst>
              <a:gd name="adj" fmla="val 1702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74336" y="4645152"/>
            <a:ext cx="4297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82896" y="504748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F8FAFC"/>
                </a:solidFill>
              </a:rPr>
              <a:t>Build coefficient matrix</a:t>
            </a:r>
            <a:endParaRPr lang="en-US" sz="1020" dirty="0"/>
          </a:p>
        </p:txBody>
      </p:sp>
      <p:sp>
        <p:nvSpPr>
          <p:cNvPr id="29" name="Text 27"/>
          <p:cNvSpPr/>
          <p:nvPr/>
        </p:nvSpPr>
        <p:spPr>
          <a:xfrm>
            <a:off x="6364224" y="45720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0A5FA"/>
                </a:solidFill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7059168" y="4526280"/>
            <a:ext cx="429768" cy="429768"/>
          </a:xfrm>
          <a:prstGeom prst="roundRect">
            <a:avLst>
              <a:gd name="adj" fmla="val 1702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59168" y="4645152"/>
            <a:ext cx="4297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967728" y="504748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F8FAFC"/>
                </a:solidFill>
              </a:rPr>
              <a:t>Gaussian elimination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8449056" y="45720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0A5FA"/>
                </a:solidFill>
              </a:rPr>
              <a:t>→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9144000" y="4526280"/>
            <a:ext cx="429768" cy="429768"/>
          </a:xfrm>
          <a:prstGeom prst="roundRect">
            <a:avLst>
              <a:gd name="adj" fmla="val 1702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0" y="4645152"/>
            <a:ext cx="4297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052560" y="504748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F8FAFC"/>
                </a:solidFill>
              </a:rPr>
              <a:t>Display solution</a:t>
            </a:r>
            <a:endParaRPr lang="en-US" sz="102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976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8FAFC"/>
                </a:solidFill>
              </a:rPr>
              <a:t>5. Conclusion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6B0BF"/>
                </a:solidFill>
              </a:rPr>
              <a:t>Project outcome and learning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6629400" cy="4343400"/>
          </a:xfrm>
          <a:prstGeom prst="roundRect">
            <a:avLst>
              <a:gd name="adj" fmla="val 1684"/>
            </a:avLst>
          </a:prstGeom>
          <a:solidFill>
            <a:srgbClr val="17212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45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0A5FA"/>
                </a:solidFill>
              </a:rPr>
              <a:t>Outcome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075688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</a:rPr>
              <a:t>The final calculator combines a professional user interface with a reliable mathematical engine. Its layout separates scientific functions, keypad controls and history so the user can understand the tool quickly.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-224287" y="0"/>
            <a:ext cx="936828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</a:rPr>
              <a:t>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10550" y="0"/>
            <a:ext cx="883344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498080" y="1325880"/>
            <a:ext cx="3931920" cy="4343400"/>
          </a:xfrm>
          <a:prstGeom prst="roundRect">
            <a:avLst>
              <a:gd name="adj" fmla="val 1860"/>
            </a:avLst>
          </a:prstGeom>
          <a:solidFill>
            <a:srgbClr val="1E2A3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90688" y="1645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C55E"/>
                </a:solidFill>
              </a:rPr>
              <a:t>Key learning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818120" y="2240280"/>
            <a:ext cx="219456" cy="21945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83880" y="22128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Tkinter GUI design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818120" y="2816352"/>
            <a:ext cx="219456" cy="21945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83880" y="27889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Event-driven programming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818120" y="3392424"/>
            <a:ext cx="219456" cy="21945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83880" y="33649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Expression validation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818120" y="3968496"/>
            <a:ext cx="219456" cy="21945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83880" y="394106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Mathematical algorithms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818120" y="4544568"/>
            <a:ext cx="219456" cy="21945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83880" y="451713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User-focused error handling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976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8720" y="1234440"/>
            <a:ext cx="9784080" cy="4343400"/>
          </a:xfrm>
          <a:prstGeom prst="roundRect">
            <a:avLst>
              <a:gd name="adj" fmla="val 2526"/>
            </a:avLst>
          </a:prstGeom>
          <a:solidFill>
            <a:srgbClr val="17212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0" y="187452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8FAFC"/>
                </a:solidFill>
              </a:rPr>
              <a:t>THANK YOU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828800" y="274320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60A5FA"/>
                </a:solidFill>
              </a:rPr>
              <a:t>Advanced Scientific Calculator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828800" y="3383280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6B0BF"/>
                </a:solidFill>
              </a:rPr>
              <a:t>Python • Tkinter • Scientific Computing • Equation Solving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86200" y="4041648"/>
            <a:ext cx="43891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427939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828800" y="47091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6B0BF"/>
                </a:solidFill>
              </a:rPr>
              <a:t>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976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502</Words>
  <Application>Microsoft Office PowerPoint</Application>
  <PresentationFormat>Widescreen</PresentationFormat>
  <Paragraphs>131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Project 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Scientific Calculator</dc:title>
  <dc:subject>Advanced Scientific Calculator – Project Presentation</dc:subject>
  <dc:creator>OpenAI</dc:creator>
  <cp:lastModifiedBy>Nakshatra Agrawal</cp:lastModifiedBy>
  <cp:revision>2</cp:revision>
  <dcterms:created xsi:type="dcterms:W3CDTF">2026-08-23T10:10:57Z</dcterms:created>
  <dcterms:modified xsi:type="dcterms:W3CDTF">2026-08-24T03:23:39Z</dcterms:modified>
</cp:coreProperties>
</file>